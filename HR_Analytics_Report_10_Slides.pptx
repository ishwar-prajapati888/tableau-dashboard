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3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6"/>
                </a:solidFill>
              </a:rPr>
              <a:t>Attrition count by department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HR</c:v>
                </c:pt>
                <c:pt idx="1">
                  <c:v>R&amp;D</c:v>
                </c:pt>
                <c:pt idx="2">
                  <c:v>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133</c:v>
                </c:pt>
                <c:pt idx="2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8-42F9-8C5C-A4BDF9C2DF4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/>
              <a:t>Employee count by 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count</c:v>
                </c:pt>
              </c:strCache>
            </c:strRef>
          </c:tx>
          <c:spPr>
            <a:solidFill>
              <a:srgbClr val="F49DB7"/>
            </a:solidFill>
            <a:ln>
              <a:solidFill>
                <a:srgbClr val="F49DB7"/>
              </a:solidFill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16</c:v>
                </c:pt>
                <c:pt idx="1">
                  <c:v>20</c:v>
                </c:pt>
                <c:pt idx="2">
                  <c:v>24</c:v>
                </c:pt>
                <c:pt idx="3">
                  <c:v>28</c:v>
                </c:pt>
                <c:pt idx="4">
                  <c:v>32</c:v>
                </c:pt>
                <c:pt idx="5">
                  <c:v>36</c:v>
                </c:pt>
                <c:pt idx="6">
                  <c:v>40</c:v>
                </c:pt>
                <c:pt idx="7">
                  <c:v>44</c:v>
                </c:pt>
                <c:pt idx="8">
                  <c:v>48</c:v>
                </c:pt>
                <c:pt idx="9">
                  <c:v>52</c:v>
                </c:pt>
                <c:pt idx="10">
                  <c:v>56</c:v>
                </c:pt>
                <c:pt idx="11">
                  <c:v>60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</c:v>
                </c:pt>
                <c:pt idx="1">
                  <c:v>54</c:v>
                </c:pt>
                <c:pt idx="2">
                  <c:v>139</c:v>
                </c:pt>
                <c:pt idx="3">
                  <c:v>245</c:v>
                </c:pt>
                <c:pt idx="4">
                  <c:v>274</c:v>
                </c:pt>
                <c:pt idx="5">
                  <c:v>219</c:v>
                </c:pt>
                <c:pt idx="6">
                  <c:v>175</c:v>
                </c:pt>
                <c:pt idx="7">
                  <c:v>131</c:v>
                </c:pt>
                <c:pt idx="8">
                  <c:v>92</c:v>
                </c:pt>
                <c:pt idx="9">
                  <c:v>77</c:v>
                </c:pt>
                <c:pt idx="10">
                  <c:v>42</c:v>
                </c:pt>
                <c:pt idx="11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49D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1CC-4FC0-A672-38C35E7CFA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8658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/>
              <a:t>Attrition count by gender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F49DB7"/>
            </a:solidFill>
            <a:ln>
              <a:solidFill>
                <a:srgbClr val="F49DB7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150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49D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65D-4137-B4C2-B1B24A016F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8658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/>
              <a:t>Attrition by education field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F49DB7"/>
            </a:solidFill>
            <a:ln>
              <a:solidFill>
                <a:srgbClr val="F49DB7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Life Sciences</c:v>
                </c:pt>
                <c:pt idx="1">
                  <c:v>Medical</c:v>
                </c:pt>
                <c:pt idx="2">
                  <c:v>Marketing</c:v>
                </c:pt>
                <c:pt idx="3">
                  <c:v>Technical Degree</c:v>
                </c:pt>
                <c:pt idx="4">
                  <c:v>Other</c:v>
                </c:pt>
                <c:pt idx="5">
                  <c:v>Human Resources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</c:v>
                </c:pt>
                <c:pt idx="1">
                  <c:v>63</c:v>
                </c:pt>
                <c:pt idx="2">
                  <c:v>35</c:v>
                </c:pt>
                <c:pt idx="3">
                  <c:v>32</c:v>
                </c:pt>
                <c:pt idx="4">
                  <c:v>11</c:v>
                </c:pt>
                <c:pt idx="5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49D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12-47DD-9B02-9FE0EDD62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8658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/>
              <a:t>Rating distribution by role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rgbClr val="F49DB7"/>
            </a:solidFill>
            <a:ln>
              <a:solidFill>
                <a:srgbClr val="F49DB7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Healthcare</c:v>
                </c:pt>
                <c:pt idx="1">
                  <c:v>Human Res.</c:v>
                </c:pt>
                <c:pt idx="2">
                  <c:v>Laboratory</c:v>
                </c:pt>
                <c:pt idx="3">
                  <c:v>Manager</c:v>
                </c:pt>
                <c:pt idx="4">
                  <c:v>Manufacturing</c:v>
                </c:pt>
                <c:pt idx="5">
                  <c:v>Research Dir.</c:v>
                </c:pt>
                <c:pt idx="6">
                  <c:v>Research Sci.</c:v>
                </c:pt>
                <c:pt idx="7">
                  <c:v>Sales Exec.</c:v>
                </c:pt>
                <c:pt idx="8">
                  <c:v>Sales Rep.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</c:v>
                </c:pt>
                <c:pt idx="1">
                  <c:v>10</c:v>
                </c:pt>
                <c:pt idx="2">
                  <c:v>56</c:v>
                </c:pt>
                <c:pt idx="3">
                  <c:v>21</c:v>
                </c:pt>
                <c:pt idx="4">
                  <c:v>26</c:v>
                </c:pt>
                <c:pt idx="5">
                  <c:v>15</c:v>
                </c:pt>
                <c:pt idx="6">
                  <c:v>54</c:v>
                </c:pt>
                <c:pt idx="7">
                  <c:v>69</c:v>
                </c:pt>
                <c:pt idx="8">
                  <c:v>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49D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0A8-4F7B-BF32-F98ADBD797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rgbClr val="B185B1"/>
            </a:solidFill>
            <a:ln>
              <a:solidFill>
                <a:srgbClr val="B185B1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Healthcare</c:v>
                </c:pt>
                <c:pt idx="1">
                  <c:v>Human Res.</c:v>
                </c:pt>
                <c:pt idx="2">
                  <c:v>Laboratory</c:v>
                </c:pt>
                <c:pt idx="3">
                  <c:v>Manager</c:v>
                </c:pt>
                <c:pt idx="4">
                  <c:v>Manufacturing</c:v>
                </c:pt>
                <c:pt idx="5">
                  <c:v>Research Dir.</c:v>
                </c:pt>
                <c:pt idx="6">
                  <c:v>Research Sci.</c:v>
                </c:pt>
                <c:pt idx="7">
                  <c:v>Sales Exec.</c:v>
                </c:pt>
                <c:pt idx="8">
                  <c:v>Sales Rep.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19</c:v>
                </c:pt>
                <c:pt idx="1">
                  <c:v>16</c:v>
                </c:pt>
                <c:pt idx="2">
                  <c:v>48</c:v>
                </c:pt>
                <c:pt idx="3">
                  <c:v>21</c:v>
                </c:pt>
                <c:pt idx="4">
                  <c:v>32</c:v>
                </c:pt>
                <c:pt idx="5">
                  <c:v>36</c:v>
                </c:pt>
                <c:pt idx="6">
                  <c:v>53</c:v>
                </c:pt>
                <c:pt idx="7">
                  <c:v>59</c:v>
                </c:pt>
                <c:pt idx="8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B185B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0A8-4F7B-BF32-F98ADBD797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rgbClr val="74BEB3"/>
            </a:solidFill>
            <a:ln>
              <a:solidFill>
                <a:srgbClr val="74BEB3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Healthcare</c:v>
                </c:pt>
                <c:pt idx="1">
                  <c:v>Human Res.</c:v>
                </c:pt>
                <c:pt idx="2">
                  <c:v>Laboratory</c:v>
                </c:pt>
                <c:pt idx="3">
                  <c:v>Manager</c:v>
                </c:pt>
                <c:pt idx="4">
                  <c:v>Manufacturing</c:v>
                </c:pt>
                <c:pt idx="5">
                  <c:v>Research Dir.</c:v>
                </c:pt>
                <c:pt idx="6">
                  <c:v>Research Sci.</c:v>
                </c:pt>
                <c:pt idx="7">
                  <c:v>Sales Exec.</c:v>
                </c:pt>
                <c:pt idx="8">
                  <c:v>Sales Rep.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43</c:v>
                </c:pt>
                <c:pt idx="1">
                  <c:v>13</c:v>
                </c:pt>
                <c:pt idx="2">
                  <c:v>75</c:v>
                </c:pt>
                <c:pt idx="3">
                  <c:v>27</c:v>
                </c:pt>
                <c:pt idx="4">
                  <c:v>49</c:v>
                </c:pt>
                <c:pt idx="5">
                  <c:v>27</c:v>
                </c:pt>
                <c:pt idx="6">
                  <c:v>90</c:v>
                </c:pt>
                <c:pt idx="7">
                  <c:v>91</c:v>
                </c:pt>
                <c:pt idx="8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74BEB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0A8-4F7B-BF32-F98ADBD797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rgbClr val="FF9123"/>
            </a:solidFill>
            <a:ln>
              <a:solidFill>
                <a:srgbClr val="FF9123"/>
              </a:solidFill>
            </a:ln>
          </c:spPr>
          <c:invertIfNegative val="1"/>
          <c:cat>
            <c:strRef>
              <c:f>Sheet1!$A$2:$A$10</c:f>
              <c:strCache>
                <c:ptCount val="9"/>
                <c:pt idx="0">
                  <c:v>Healthcare</c:v>
                </c:pt>
                <c:pt idx="1">
                  <c:v>Human Res.</c:v>
                </c:pt>
                <c:pt idx="2">
                  <c:v>Laboratory</c:v>
                </c:pt>
                <c:pt idx="3">
                  <c:v>Manager</c:v>
                </c:pt>
                <c:pt idx="4">
                  <c:v>Manufacturing</c:v>
                </c:pt>
                <c:pt idx="5">
                  <c:v>Research Dir.</c:v>
                </c:pt>
                <c:pt idx="6">
                  <c:v>Research Sci.</c:v>
                </c:pt>
                <c:pt idx="7">
                  <c:v>Sales Exec.</c:v>
                </c:pt>
                <c:pt idx="8">
                  <c:v>Sales Rep.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43</c:v>
                </c:pt>
                <c:pt idx="1">
                  <c:v>13</c:v>
                </c:pt>
                <c:pt idx="2">
                  <c:v>80</c:v>
                </c:pt>
                <c:pt idx="3">
                  <c:v>33</c:v>
                </c:pt>
                <c:pt idx="4">
                  <c:v>38</c:v>
                </c:pt>
                <c:pt idx="5">
                  <c:v>28</c:v>
                </c:pt>
                <c:pt idx="6">
                  <c:v>95</c:v>
                </c:pt>
                <c:pt idx="7">
                  <c:v>112</c:v>
                </c:pt>
                <c:pt idx="8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912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0A8-4F7B-BF32-F98ADBD79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48658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/>
              <a:t>Displayed attrition rate by age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F49DB7"/>
            </a:solidFill>
            <a:ln>
              <a:solidFill>
                <a:srgbClr val="F49DB7"/>
              </a:solidFill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25–34</c:v>
                </c:pt>
                <c:pt idx="1">
                  <c:v>35–44</c:v>
                </c:pt>
                <c:pt idx="2">
                  <c:v>45–54</c:v>
                </c:pt>
                <c:pt idx="3">
                  <c:v>Over 55</c:v>
                </c:pt>
                <c:pt idx="4">
                  <c:v>Under 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18.14</c:v>
                </c:pt>
                <c:pt idx="1">
                  <c:v>5.91</c:v>
                </c:pt>
                <c:pt idx="2">
                  <c:v>3.8</c:v>
                </c:pt>
                <c:pt idx="3">
                  <c:v>1.27</c:v>
                </c:pt>
                <c:pt idx="4">
                  <c:v>7.59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49D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A6E-4006-B00F-B6C36F703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48658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6E8CAA"/>
            </a:solidFill>
          </a:ln>
        </c:spPr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10927080" cy="516636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9123"/>
                </a:solidFill>
                <a:latin typeface="Aptos"/>
              </a:defRPr>
            </a:pPr>
            <a:r>
              <a:t>HR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EMPLOYEE ATTRITION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063240"/>
            <a:ext cx="9098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AE5F2"/>
                </a:solidFill>
                <a:latin typeface="Aptos"/>
              </a:defRPr>
            </a:pPr>
            <a:r>
              <a:t>A dashboard-led overview of workforce trends, attrition patterns,</a:t>
            </a:r>
            <a:br/>
            <a:r>
              <a:t>and employee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01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A quick snapshot of workforce size and employee attrition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148840" cy="123444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71907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AE5F2"/>
                </a:solidFill>
                <a:latin typeface="Aptos"/>
              </a:defRPr>
            </a:pPr>
            <a:r>
              <a:t>Employee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084831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9123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508760"/>
            <a:ext cx="2148840" cy="123444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1" y="171907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AE5F2"/>
                </a:solidFill>
                <a:latin typeface="Aptos"/>
              </a:defRPr>
            </a:pPr>
            <a:r>
              <a:t>Attrition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1" y="2084831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9123"/>
                </a:solidFill>
                <a:latin typeface="Aptos"/>
              </a:defRPr>
            </a:pPr>
            <a:r>
              <a:t>237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1508760"/>
            <a:ext cx="2148840" cy="123444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71907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AE5F2"/>
                </a:solidFill>
                <a:latin typeface="Aptos"/>
              </a:defRPr>
            </a:pPr>
            <a:r>
              <a:t>Attrition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084831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9123"/>
                </a:solidFill>
                <a:latin typeface="Aptos"/>
              </a:defRPr>
            </a:pPr>
            <a:r>
              <a:t>16.12%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08760"/>
            <a:ext cx="2148840" cy="123444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171907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AE5F2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084831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9123"/>
                </a:solidFill>
                <a:latin typeface="Aptos"/>
              </a:defRPr>
            </a:pPr>
            <a:r>
              <a:t>1,233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508760"/>
            <a:ext cx="2148840" cy="123444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2952" y="171907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AE5F2"/>
                </a:solidFill>
                <a:latin typeface="Aptos"/>
              </a:defRPr>
            </a:pPr>
            <a:r>
              <a:t>Average 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084831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9123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10972800" cy="256032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401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123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8404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The dashboard reports 1,470 employees in total.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237 employees have left, representing a 16.12% attrition rate.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1,233 employees remain active; the reported average age is 37.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Department, age, education, gender and job satisfaction views help identify where to investigate further.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02  |  Attrition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Department mix of employees who left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640080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16823"/>
              </p:ext>
            </p:extLst>
          </p:nvPr>
        </p:nvGraphicFramePr>
        <p:xfrm>
          <a:off x="822960" y="178308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1371600"/>
            <a:ext cx="448056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123"/>
                </a:solidFill>
                <a:latin typeface="Aptos"/>
              </a:defRPr>
            </a:pPr>
            <a:r>
              <a:t>What the chart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31720"/>
            <a:ext cx="3703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R&amp;D contributes 133 exits (56.12%).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Sales contributes 92 exits (38.82%).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HR contributes 12 exits (5.06%).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R&amp;D and Sales together account for most recorded attrition.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03  |  Employee Count by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Age distribution shown in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731520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737360"/>
          <a:ext cx="67208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371600"/>
            <a:ext cx="356616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123"/>
                </a:solidFill>
                <a:latin typeface="Aptos"/>
              </a:defRPr>
            </a:pPr>
            <a: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31720"/>
            <a:ext cx="2880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The largest age value in the displayed chart is 32, with 274 employees.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The next largest groups are ages 28 (245) and 36 (219).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Counts are lower at the youngest and oldest ends of the displayed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04  |  Attrition by Gender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Recorded attrition counts split by gender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566928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82880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1371600"/>
            <a:ext cx="521208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12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317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The dashboard records 150 male attrition cases.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The dashboard records 87 female attrition cases.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Counts alone do not show group-specific attrition risk; workforce denominators are needed to compare rates fairly.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Consider reviewing role, tenure and department mix alongside gender.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05  |  Attrition by Education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Attrition counts across education specializations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676656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691640"/>
          <a:ext cx="6217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371600"/>
            <a:ext cx="411480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123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31720"/>
            <a:ext cx="3337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Life Sciences has the highest displayed count (89).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Medical follows with 63 cases.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Marketing and Technical Degree show 35 and 32 cases.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These are counts, not rates; compare with each field's employee population before drawing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06  |  Job Satisfaction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A role-by-rating matrix from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7498079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37360"/>
          <a:ext cx="7086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1371600"/>
            <a:ext cx="338328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123"/>
                </a:solidFill>
                <a:latin typeface="Aptos"/>
              </a:defRPr>
            </a:pPr>
            <a:r>
              <a:t>How to read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28600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The matrix compares satisfaction ratings 1–4 across job roles.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Sales Executive has the largest visible total (292).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Research Scientist shows high counts in ratings 3 and 4.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•  Use this view to prioritize role-level follow-up, not to assume causes.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123"/>
                </a:solidFill>
                <a:latin typeface="Aptos"/>
              </a:defRPr>
            </a:pPr>
            <a:r>
              <a:t>07  |  Attrition Rate by Gender and Age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AE5F2"/>
                </a:solidFill>
                <a:latin typeface="Aptos"/>
              </a:defRPr>
            </a:pPr>
            <a:r>
              <a:t>Rate labels reproduced from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704088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783080"/>
          <a:ext cx="64008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371600"/>
            <a:ext cx="3840480" cy="4892040"/>
          </a:xfrm>
          <a:prstGeom prst="roundRect">
            <a:avLst/>
          </a:prstGeom>
          <a:solidFill>
            <a:srgbClr val="1A3A62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123"/>
                </a:solidFill>
                <a:latin typeface="Aptos"/>
              </a:defRPr>
            </a:pPr>
            <a:r>
              <a:t>Insights to investigate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The 25–34 age band has the highest displayed rate (18.14%).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Under 25 is shown at 7.59%; 35–44 at 5.91%.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45–54 and Over 55 are shown at 3.80% and 1.27%.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Validate calculation definitions and group sizes before using these rates for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AE5F2"/>
                </a:solidFill>
                <a:latin typeface="Apto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9123"/>
                </a:solidFill>
                <a:latin typeface="Aptos"/>
              </a:defRPr>
            </a:pPr>
            <a:r>
              <a:t>08  |  Full HR Analytics Dashboard</a:t>
            </a:r>
          </a:p>
        </p:txBody>
      </p:sp>
      <p:pic>
        <p:nvPicPr>
          <p:cNvPr id="4" name="Picture 3" descr="TABLEAU DASHBOARD N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17" y="868680"/>
            <a:ext cx="10147459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44200" cy="5394960"/>
          </a:xfrm>
          <a:prstGeom prst="roundRect">
            <a:avLst/>
          </a:prstGeom>
          <a:solidFill>
            <a:srgbClr val="1A467D"/>
          </a:solidFill>
          <a:ln w="12700">
            <a:solidFill>
              <a:srgbClr val="507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10012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9123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1001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0012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AE5F2"/>
                </a:solidFill>
                <a:latin typeface="Aptos"/>
              </a:defRPr>
            </a:pPr>
            <a:r>
              <a:t>HR Analytics Report  |  Employee Attrition &amp; Workforce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540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ishwar prajapati</cp:lastModifiedBy>
  <cp:revision>4</cp:revision>
  <dcterms:created xsi:type="dcterms:W3CDTF">2013-01-27T09:14:16Z</dcterms:created>
  <dcterms:modified xsi:type="dcterms:W3CDTF">2026-10-11T04:20:18Z</dcterms:modified>
  <cp:category/>
</cp:coreProperties>
</file>